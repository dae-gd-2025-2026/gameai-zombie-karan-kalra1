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EEF0F5"/>
                </a:solidFill>
              </a:rPr>
              <a:t>GPP Exam: Zombie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7451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CD99C"/>
                </a:solidFill>
              </a:rPr>
              <a:t>Karan Kalra • Game Feature Plugin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698480" cy="182880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9718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Goal: survive as long as possible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0440"/>
            <a:ext cx="9966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EEF0F5"/>
                </a:solidFill>
              </a:rPr>
              <a:t>The agent uses a Behavior Tree, </a:t>
            </a:r>
            <a:r>
              <a:rPr sz="1600" b="0" dirty="0" err="1">
                <a:solidFill>
                  <a:srgbClr val="EEF0F5"/>
                </a:solidFill>
              </a:rPr>
              <a:t>AIPerception</a:t>
            </a:r>
            <a:r>
              <a:rPr sz="1600" b="0" dirty="0">
                <a:solidFill>
                  <a:srgbClr val="EEF0F5"/>
                </a:solidFill>
              </a:rPr>
              <a:t> memory, item prioritization, emergency combat, smart fleeing, house exploration, and garbage cleanup</a:t>
            </a: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6FA"/>
                </a:solidFill>
                <a:latin typeface="Aptos"/>
              </a:rPr>
              <a:t>Decision Making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201400" cy="5257800"/>
          </a:xfrm>
          <a:prstGeom prst="roundRect">
            <a:avLst/>
          </a:prstGeom>
          <a:solidFill>
            <a:srgbClr val="F6F4EE"/>
          </a:solidFill>
          <a:ln w="15240">
            <a:solidFill>
              <a:srgbClr val="5A5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" y="1481328"/>
            <a:ext cx="182880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900" b="1">
                <a:solidFill>
                  <a:srgbClr val="46464B"/>
                </a:solidFill>
                <a:latin typeface="Aptos"/>
              </a:rPr>
              <a:t>MIRO DECISION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373C"/>
                </a:solidFill>
                <a:latin typeface="Aptos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7451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373C"/>
                </a:solidFill>
                <a:latin typeface="Aptos"/>
              </a:rPr>
              <a:t>Priority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888" y="176021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37373C"/>
                </a:solidFill>
                <a:latin typeface="Aptos"/>
              </a:rPr>
              <a:t>Chosen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87451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373C"/>
                </a:solidFill>
                <a:latin typeface="Aptos"/>
              </a:rPr>
              <a:t>Memory update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48840"/>
            <a:ext cx="1920240" cy="731520"/>
          </a:xfrm>
          <a:prstGeom prst="rect">
            <a:avLst/>
          </a:prstGeom>
          <a:solidFill>
            <a:srgbClr val="FFF6A6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Update World State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Health, stamina, inventory, threats, stuck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63240"/>
            <a:ext cx="1920240" cy="731520"/>
          </a:xfrm>
          <a:prstGeom prst="rect">
            <a:avLst/>
          </a:prstGeom>
          <a:solidFill>
            <a:srgbClr val="CBF0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AIPerception Memory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Items, zombies, houses, garbage, last-known positions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057400"/>
            <a:ext cx="2057400" cy="658368"/>
          </a:xfrm>
          <a:prstGeom prst="rect">
            <a:avLst/>
          </a:prstGeom>
          <a:solidFill>
            <a:srgbClr val="FFCDD2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 dirty="0">
                <a:solidFill>
                  <a:srgbClr val="1E1E1E"/>
                </a:solidFill>
                <a:latin typeface="Aptos"/>
              </a:rPr>
              <a:t>Emergency?</a:t>
            </a:r>
          </a:p>
          <a:p>
            <a:pPr>
              <a:spcBef>
                <a:spcPts val="200"/>
              </a:spcBef>
            </a:pPr>
            <a:r>
              <a:rPr sz="950" dirty="0">
                <a:solidFill>
                  <a:srgbClr val="1E1E23"/>
                </a:solidFill>
                <a:latin typeface="Aptos"/>
              </a:rPr>
              <a:t>Heal, eat food, damaged scan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880360"/>
            <a:ext cx="2057400" cy="658368"/>
          </a:xfrm>
          <a:prstGeom prst="rect">
            <a:avLst/>
          </a:prstGeom>
          <a:solidFill>
            <a:srgbClr val="FFE0B2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Zombie threat?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If armed: attack / kite. If blocked: move aside.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3703320"/>
            <a:ext cx="2057400" cy="658368"/>
          </a:xfrm>
          <a:prstGeom prst="rect">
            <a:avLst/>
          </a:prstGeom>
          <a:solidFill>
            <a:srgbClr val="DCEDC8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Useful item?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Prioritize weapon, medkit, food. Ignore full inventory.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4526280"/>
            <a:ext cx="2057400" cy="658368"/>
          </a:xfrm>
          <a:prstGeom prst="rect">
            <a:avLst/>
          </a:prstGeom>
          <a:solidFill>
            <a:srgbClr val="D1C4E9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Low information?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Scan more often, then seek unvisited houses.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2057400" cy="548640"/>
          </a:xfrm>
          <a:prstGeom prst="rect">
            <a:avLst/>
          </a:prstGeom>
          <a:solidFill>
            <a:srgbClr val="FFF59D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 dirty="0">
                <a:solidFill>
                  <a:srgbClr val="1E1E1E"/>
                </a:solidFill>
                <a:latin typeface="Aptos"/>
              </a:rPr>
              <a:t>Use survival item</a:t>
            </a:r>
          </a:p>
          <a:p>
            <a:pPr>
              <a:spcBef>
                <a:spcPts val="200"/>
              </a:spcBef>
            </a:pPr>
            <a:r>
              <a:rPr sz="950" dirty="0" err="1">
                <a:solidFill>
                  <a:srgbClr val="1E1E23"/>
                </a:solidFill>
                <a:latin typeface="Aptos"/>
              </a:rPr>
              <a:t>Medkit</a:t>
            </a:r>
            <a:r>
              <a:rPr sz="950" dirty="0">
                <a:solidFill>
                  <a:srgbClr val="1E1E23"/>
                </a:solidFill>
                <a:latin typeface="Aptos"/>
              </a:rPr>
              <a:t> or food consumed instantly when needed.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97480"/>
            <a:ext cx="2057400" cy="548640"/>
          </a:xfrm>
          <a:prstGeom prst="rect">
            <a:avLst/>
          </a:prstGeom>
          <a:solidFill>
            <a:srgbClr val="FFCCBC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Escape / shelter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Medkit → weapon → safe house → flee point.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2057400" cy="548640"/>
          </a:xfrm>
          <a:prstGeom prst="rect">
            <a:avLst/>
          </a:prstGeom>
          <a:solidFill>
            <a:srgbClr val="FFAB91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Attack zombie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Rotate toward target and use pistol/shotgun.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069080"/>
            <a:ext cx="2057400" cy="548640"/>
          </a:xfrm>
          <a:prstGeom prst="rect">
            <a:avLst/>
          </a:prstGeom>
          <a:solidFill>
            <a:srgbClr val="C5E1A5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Loot / clean garbage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Pick useful item; garbage is removed to free spawns.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754880"/>
            <a:ext cx="2057400" cy="548640"/>
          </a:xfrm>
          <a:prstGeom prst="rect">
            <a:avLst/>
          </a:prstGeom>
          <a:solidFill>
            <a:srgbClr val="B3E5FC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Explore houses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Visit remembered houses; far random point if none known.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423160"/>
            <a:ext cx="1828800" cy="685800"/>
          </a:xfrm>
          <a:prstGeom prst="rect">
            <a:avLst/>
          </a:prstGeom>
          <a:solidFill>
            <a:srgbClr val="E1BEE7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Remember result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Visited houses get cooldown; bad targets are ignored.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3794760"/>
            <a:ext cx="1828800" cy="685800"/>
          </a:xfrm>
          <a:prstGeom prst="rect">
            <a:avLst/>
          </a:prstGeom>
          <a:solidFill>
            <a:srgbClr val="C8E6C9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/>
            <a:r>
              <a:rPr sz="1300" b="1">
                <a:solidFill>
                  <a:srgbClr val="1E1E1E"/>
                </a:solidFill>
                <a:latin typeface="Aptos"/>
              </a:rPr>
              <a:t>Blackboard loop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E1E23"/>
                </a:solidFill>
                <a:latin typeface="Aptos"/>
              </a:rPr>
              <a:t>Targets update every 0.25s through the service.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743200" y="2377440"/>
            <a:ext cx="411480" cy="137160"/>
          </a:xfrm>
          <a:prstGeom prst="line">
            <a:avLst/>
          </a:prstGeom>
          <a:ln w="17780">
            <a:solidFill>
              <a:srgbClr val="55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743200" y="3200400"/>
            <a:ext cx="411480" cy="228600"/>
          </a:xfrm>
          <a:prstGeom prst="line">
            <a:avLst/>
          </a:prstGeom>
          <a:ln w="17780">
            <a:solidFill>
              <a:srgbClr val="55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212080" y="2286000"/>
            <a:ext cx="1005840" cy="91440"/>
          </a:xfrm>
          <a:prstGeom prst="line">
            <a:avLst/>
          </a:prstGeom>
          <a:ln w="17780">
            <a:solidFill>
              <a:srgbClr val="55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212080" y="2971800"/>
            <a:ext cx="1005840" cy="228600"/>
          </a:xfrm>
          <a:prstGeom prst="line">
            <a:avLst/>
          </a:prstGeom>
          <a:ln w="17780">
            <a:solidFill>
              <a:srgbClr val="55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12080" y="3200400"/>
            <a:ext cx="1005840" cy="457200"/>
          </a:xfrm>
          <a:prstGeom prst="line">
            <a:avLst/>
          </a:prstGeom>
          <a:ln w="17780">
            <a:solidFill>
              <a:srgbClr val="55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212080" y="4023360"/>
            <a:ext cx="1005840" cy="320040"/>
          </a:xfrm>
          <a:prstGeom prst="line">
            <a:avLst/>
          </a:prstGeom>
          <a:ln w="17780">
            <a:solidFill>
              <a:srgbClr val="55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212080" y="4846320"/>
            <a:ext cx="1005840" cy="182880"/>
          </a:xfrm>
          <a:prstGeom prst="line">
            <a:avLst/>
          </a:prstGeom>
          <a:ln w="17780">
            <a:solidFill>
              <a:srgbClr val="55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275320" y="2286000"/>
            <a:ext cx="960120" cy="457200"/>
          </a:xfrm>
          <a:prstGeom prst="line">
            <a:avLst/>
          </a:prstGeom>
          <a:ln w="17780">
            <a:solidFill>
              <a:srgbClr val="55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275320" y="4114800"/>
            <a:ext cx="960120" cy="228600"/>
          </a:xfrm>
          <a:prstGeom prst="line">
            <a:avLst/>
          </a:prstGeom>
          <a:ln w="17780">
            <a:solidFill>
              <a:srgbClr val="55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275320" y="4114800"/>
            <a:ext cx="960120" cy="914400"/>
          </a:xfrm>
          <a:prstGeom prst="line">
            <a:avLst/>
          </a:prstGeom>
          <a:ln w="17780">
            <a:solidFill>
              <a:srgbClr val="55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77240" y="6144768"/>
            <a:ext cx="10378440" cy="320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28282D"/>
                </a:solidFill>
                <a:latin typeface="Aptos"/>
              </a:rPr>
              <a:t>Priority order: survive first → react to enemies → handle inventory → clean blockers → explore new houses.</a:t>
            </a:r>
          </a:p>
        </p:txBody>
      </p:sp>
    </p:spTree>
    <p:extLst>
      <p:ext uri="{BB962C8B-B14F-4D97-AF65-F5344CB8AC3E}">
        <p14:creationId xmlns:p14="http://schemas.microsoft.com/office/powerpoint/2010/main" val="329739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CD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EEF0F5"/>
                </a:solidFill>
              </a:rPr>
              <a:t>Enemy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ACB2BE"/>
                </a:solidFill>
              </a:rPr>
              <a:t>The agent reacts differently depending on weapons, danger and recent damage.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143000"/>
            <a:ext cx="5303520" cy="2926080"/>
          </a:xfrm>
          <a:prstGeom prst="rect">
            <a:avLst/>
          </a:prstGeom>
          <a:solidFill>
            <a:srgbClr val="0A0C12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577840" cy="292608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252728"/>
            <a:ext cx="524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D99C"/>
                </a:solidFill>
              </a:rPr>
              <a:t>Combat and survival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20"/>
            <a:ext cx="5248655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t>If armed and a zombie is known, Emergency Attack rotates toward it and shoots immediately.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t>If damaged from behind with no target, Damage Scan spins the pawn to let AIPerception reacquire the attacker.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t>If blocked while fleeing, Move Aside chooses a reachable sideways escape point instead of pushing into enemies.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t>If unarmed or low health, Flee prioritizes medkits, weapons or safe shelter before pure escape 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89120"/>
            <a:ext cx="11201400" cy="150876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46177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D99C"/>
                </a:solidFill>
              </a:rPr>
              <a:t>Enemy decision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983480"/>
            <a:ext cx="2468880" cy="41148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50474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Has weapon + target
→ Attack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4983480"/>
            <a:ext cx="2468880" cy="41148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8727" y="50474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Recently damaged + no target
→ Scan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4983480"/>
            <a:ext cx="2468880" cy="41148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50474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Danger + no weapon/low health
→ Flee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4983480"/>
            <a:ext cx="2468880" cy="41148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5128" y="50474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Blocked while fleeing
→ Move aside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143000"/>
            <a:ext cx="5303520" cy="2926080"/>
          </a:xfrm>
          <a:prstGeom prst="rect">
            <a:avLst/>
          </a:prstGeom>
          <a:solidFill>
            <a:srgbClr val="0A0C12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explor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040" y="1252728"/>
            <a:ext cx="4909312" cy="2761488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672580" y="1261872"/>
            <a:ext cx="4714240" cy="2651760"/>
          </a:xfrm>
          <a:prstGeom prst="rect">
            <a:avLst/>
          </a:prstGeom>
          <a:noFill/>
          <a:ln w="19050">
            <a:solidFill>
              <a:srgbClr val="58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672580" y="1216152"/>
            <a:ext cx="3200400" cy="292608"/>
          </a:xfrm>
          <a:prstGeom prst="roundRect">
            <a:avLst/>
          </a:prstGeom>
          <a:solidFill>
            <a:srgbClr val="131722"/>
          </a:solidFill>
          <a:ln w="15875">
            <a:solidFill>
              <a:srgbClr val="58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Gameplay GIF: </a:t>
            </a:r>
            <a:r>
              <a:rPr lang="en-GB" sz="1000" b="1" dirty="0">
                <a:solidFill>
                  <a:srgbClr val="FFFFFF"/>
                </a:solidFill>
              </a:rPr>
              <a:t>Shooting</a:t>
            </a:r>
            <a:endParaRPr sz="1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CD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EEF0F5"/>
                </a:solidFill>
              </a:rPr>
              <a:t>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188720"/>
            <a:ext cx="5029200" cy="2971800"/>
          </a:xfrm>
          <a:prstGeom prst="rect">
            <a:avLst/>
          </a:prstGeom>
          <a:solidFill>
            <a:srgbClr val="0A0C12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3722b9c8-cbb0-4028-b87c-f4de198d72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14" y="1188720"/>
            <a:ext cx="5010050" cy="2971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188720"/>
            <a:ext cx="5669280" cy="297180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298448"/>
            <a:ext cx="5340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D99C"/>
                </a:solidFill>
              </a:rPr>
              <a:t>Inventory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91640"/>
            <a:ext cx="534009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rPr dirty="0" err="1"/>
              <a:t>Medkits</a:t>
            </a:r>
            <a:r>
              <a:rPr dirty="0"/>
              <a:t> are used automatically when health is low.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rPr dirty="0"/>
              <a:t>Food is consumed when stamina is low 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rPr dirty="0"/>
              <a:t>Weapons are prioritized when unarmed and ignored once empty.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rPr dirty="0"/>
              <a:t>Normal looting ignores garbage, but a separate Clean Garbage branch removes it to free future item spawns.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rPr dirty="0"/>
              <a:t>If inventory is full, </a:t>
            </a:r>
            <a:r>
              <a:rPr dirty="0" err="1"/>
              <a:t>TargetItem</a:t>
            </a:r>
            <a:r>
              <a:rPr dirty="0"/>
              <a:t> is cleared so the AI does not loop on unreachable pickups.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80560"/>
            <a:ext cx="11018520" cy="141732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468172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D99C"/>
                </a:solidFill>
              </a:rPr>
              <a:t>Item priority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74920"/>
            <a:ext cx="2148840" cy="50292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13892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1. Medkit
low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5074920"/>
            <a:ext cx="2148840" cy="50292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513892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2. Weapon
unarmed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074920"/>
            <a:ext cx="2148840" cy="50292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513892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3. Food
low stamina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5074920"/>
            <a:ext cx="2148840" cy="50292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513892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4. Garbage
cleanup only</a:t>
            </a:r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CD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EEF0F5"/>
                </a:solidFill>
              </a:rPr>
              <a:t>Movement - Steering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5731441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ACB2BE"/>
                </a:solidFill>
              </a:rPr>
              <a:t>Movement is task-driven through </a:t>
            </a:r>
            <a:r>
              <a:rPr sz="1250" dirty="0" err="1">
                <a:solidFill>
                  <a:srgbClr val="ACB2BE"/>
                </a:solidFill>
              </a:rPr>
              <a:t>navmesh</a:t>
            </a:r>
            <a:r>
              <a:rPr sz="1250" dirty="0">
                <a:solidFill>
                  <a:srgbClr val="ACB2BE"/>
                </a:solidFill>
              </a:rPr>
              <a:t> </a:t>
            </a:r>
            <a:r>
              <a:rPr sz="1250" dirty="0" err="1">
                <a:solidFill>
                  <a:srgbClr val="ACB2BE"/>
                </a:solidFill>
              </a:rPr>
              <a:t>MoveTo</a:t>
            </a:r>
            <a:r>
              <a:rPr sz="1250" dirty="0">
                <a:solidFill>
                  <a:srgbClr val="ACB2BE"/>
                </a:solidFill>
              </a:rPr>
              <a:t> goals and </a:t>
            </a:r>
            <a:r>
              <a:rPr lang="en-GB" sz="1250" dirty="0">
                <a:solidFill>
                  <a:srgbClr val="ACB2BE"/>
                </a:solidFill>
              </a:rPr>
              <a:t>careful</a:t>
            </a:r>
            <a:r>
              <a:rPr sz="1250" dirty="0">
                <a:solidFill>
                  <a:srgbClr val="ACB2BE"/>
                </a:solidFill>
              </a:rPr>
              <a:t> target selection.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303520" cy="448056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252728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D99C"/>
                </a:solidFill>
              </a:rPr>
              <a:t>Movement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45920"/>
            <a:ext cx="49743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rPr dirty="0"/>
              <a:t>The agent does not use blended steering</a:t>
            </a:r>
            <a:r>
              <a:rPr lang="en-GB" dirty="0"/>
              <a:t>.</a:t>
            </a:r>
            <a:r>
              <a:rPr dirty="0"/>
              <a:t> Unreal navigation handles actual path movement.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rPr dirty="0"/>
              <a:t>Behavior Tree tasks choose the next movement goal: loot, shelter, flee, purge escape, unstuck or exploration.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rPr dirty="0"/>
              <a:t>Move goals are projected onto the </a:t>
            </a:r>
            <a:r>
              <a:rPr dirty="0" err="1"/>
              <a:t>navmesh</a:t>
            </a:r>
            <a:r>
              <a:rPr dirty="0"/>
              <a:t> to avoid unreachable item/house origins.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rPr dirty="0"/>
              <a:t>Fleeing tests multiple directions and rejects paths that initially move toward zombies.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rPr dirty="0"/>
              <a:t>Move Aside handles body-blocking by selecting side-step directions instead of continuing into enemies.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1828800" cy="54864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3441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World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280160"/>
            <a:ext cx="1828800" cy="54864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3441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BT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377439"/>
            <a:ext cx="1828800" cy="54864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2441447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Navmesh Goal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74720"/>
            <a:ext cx="1828800" cy="54864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538727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MoveTo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474720"/>
            <a:ext cx="1828800" cy="54864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3538727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Re-evaluate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" y="1554480"/>
            <a:ext cx="548640" cy="0"/>
          </a:xfrm>
          <a:prstGeom prst="line">
            <a:avLst/>
          </a:prstGeom>
          <a:ln w="19050">
            <a:solidFill>
              <a:srgbClr val="AC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503920" y="1828800"/>
            <a:ext cx="1188720" cy="548639"/>
          </a:xfrm>
          <a:prstGeom prst="line">
            <a:avLst/>
          </a:prstGeom>
          <a:ln w="19050">
            <a:solidFill>
              <a:srgbClr val="AC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315200" y="2926080"/>
            <a:ext cx="1188720" cy="548640"/>
          </a:xfrm>
          <a:prstGeom prst="line">
            <a:avLst/>
          </a:prstGeom>
          <a:ln w="19050">
            <a:solidFill>
              <a:srgbClr val="AC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3749039"/>
            <a:ext cx="548640" cy="0"/>
          </a:xfrm>
          <a:prstGeom prst="line">
            <a:avLst/>
          </a:prstGeom>
          <a:ln w="19050">
            <a:solidFill>
              <a:srgbClr val="AC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4251960"/>
            <a:ext cx="5166360" cy="137160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436168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D99C"/>
                </a:solidFill>
              </a:rPr>
              <a:t>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754880"/>
            <a:ext cx="48371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EF0F5"/>
                </a:solidFill>
              </a:defRPr>
            </a:pPr>
            <a:r>
              <a:t>Acceptable radii are intentionally generous for emergency movement.</a:t>
            </a:r>
          </a:p>
          <a:p>
            <a:pPr>
              <a:spcAft>
                <a:spcPts val="600"/>
              </a:spcAft>
              <a:defRPr sz="1300">
                <a:solidFill>
                  <a:srgbClr val="EEF0F5"/>
                </a:solidFill>
              </a:defRPr>
            </a:pPr>
            <a:r>
              <a:t>Exact movement is avoided when fleeing or navigating inside houses.</a:t>
            </a:r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CD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EEF0F5"/>
                </a:solidFill>
              </a:rPr>
              <a:t>Movement -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371999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ACB2BE"/>
                </a:solidFill>
              </a:rPr>
              <a:t>Exploration is memory-guided and focused on houses</a:t>
            </a:r>
            <a:r>
              <a:rPr lang="en-GB" sz="1250" dirty="0">
                <a:solidFill>
                  <a:srgbClr val="ACB2BE"/>
                </a:solidFill>
              </a:rPr>
              <a:t>.</a:t>
            </a:r>
            <a:endParaRPr sz="1250" dirty="0">
              <a:solidFill>
                <a:srgbClr val="ACB2B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92240" y="1143000"/>
            <a:ext cx="4983480" cy="3063240"/>
          </a:xfrm>
          <a:prstGeom prst="rect">
            <a:avLst/>
          </a:prstGeom>
          <a:solidFill>
            <a:srgbClr val="0A0C12"/>
          </a:solidFill>
          <a:ln w="12700">
            <a:solidFill>
              <a:srgbClr val="2A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623560" cy="306324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252728"/>
            <a:ext cx="5294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D99C"/>
                </a:solidFill>
              </a:rPr>
              <a:t>Exploration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20"/>
            <a:ext cx="5294376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t>AIPerception stores seen houses, items and zombies with last-known locations.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t>Exploration prefers unvisited houses, then far random navmesh points to discover new villages.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t>Visited houses receive a cooldown so the agent does not camp the same empty building.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t>Scan When Low Info rotates the agent more often while exploring or fleeing with little useful knowledge.</a:t>
            </a:r>
          </a:p>
          <a:p>
            <a:pPr>
              <a:spcAft>
                <a:spcPts val="600"/>
              </a:spcAft>
              <a:defRPr sz="1400">
                <a:solidFill>
                  <a:srgbClr val="EEF0F5"/>
                </a:solidFill>
              </a:defRPr>
            </a:pPr>
            <a:r>
              <a:t>Garbage cleanup helps empty houses/villages refresh item spawns.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526280"/>
            <a:ext cx="10972800" cy="123444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4892040"/>
            <a:ext cx="1417320" cy="41148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560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Scan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5102352"/>
            <a:ext cx="320040" cy="0"/>
          </a:xfrm>
          <a:prstGeom prst="line">
            <a:avLst/>
          </a:prstGeom>
          <a:ln w="19050">
            <a:solidFill>
              <a:srgbClr val="AC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14600" y="4892040"/>
            <a:ext cx="1417320" cy="41148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0" y="49560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Remember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31920" y="5102352"/>
            <a:ext cx="320040" cy="0"/>
          </a:xfrm>
          <a:prstGeom prst="line">
            <a:avLst/>
          </a:prstGeom>
          <a:ln w="19050">
            <a:solidFill>
              <a:srgbClr val="AC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51959" y="4892040"/>
            <a:ext cx="1417320" cy="41148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49560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Visit house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79" y="5102352"/>
            <a:ext cx="320041" cy="0"/>
          </a:xfrm>
          <a:prstGeom prst="line">
            <a:avLst/>
          </a:prstGeom>
          <a:ln w="19050">
            <a:solidFill>
              <a:srgbClr val="AC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89319" y="4892040"/>
            <a:ext cx="1417320" cy="41148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39" y="49560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Loot/clean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06640" y="5102352"/>
            <a:ext cx="320039" cy="0"/>
          </a:xfrm>
          <a:prstGeom prst="line">
            <a:avLst/>
          </a:prstGeom>
          <a:ln w="19050">
            <a:solidFill>
              <a:srgbClr val="AC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26679" y="4892040"/>
            <a:ext cx="1417320" cy="41148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0" y="49560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Mark visited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5102352"/>
            <a:ext cx="320040" cy="0"/>
          </a:xfrm>
          <a:prstGeom prst="line">
            <a:avLst/>
          </a:prstGeom>
          <a:ln w="19050">
            <a:solidFill>
              <a:srgbClr val="ACB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64040" y="4892040"/>
            <a:ext cx="1417320" cy="411480"/>
          </a:xfrm>
          <a:prstGeom prst="roundRect">
            <a:avLst/>
          </a:prstGeom>
          <a:solidFill>
            <a:srgbClr val="2A303E"/>
          </a:solidFill>
          <a:ln w="12700">
            <a:solidFill>
              <a:srgbClr val="86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0" y="49560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EEF0F5"/>
                </a:solidFill>
              </a:rPr>
              <a:t>Explore far</a:t>
            </a:r>
          </a:p>
        </p:txBody>
      </p:sp>
      <p:pic>
        <p:nvPicPr>
          <p:cNvPr id="28" name="Picture 27" descr="enemy_handling.gif">
            <a:extLst>
              <a:ext uri="{FF2B5EF4-FFF2-40B4-BE49-F238E27FC236}">
                <a16:creationId xmlns:a16="http://schemas.microsoft.com/office/drawing/2014/main" id="{391B77D1-3858-D39A-C16E-A53ADA1B7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32" y="1261872"/>
            <a:ext cx="4714240" cy="265176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7FAE3D3A-C651-844A-7910-1E3968F22683}"/>
              </a:ext>
            </a:extLst>
          </p:cNvPr>
          <p:cNvSpPr/>
          <p:nvPr/>
        </p:nvSpPr>
        <p:spPr>
          <a:xfrm>
            <a:off x="6529324" y="1261872"/>
            <a:ext cx="4909312" cy="2761488"/>
          </a:xfrm>
          <a:prstGeom prst="rect">
            <a:avLst/>
          </a:prstGeom>
          <a:noFill/>
          <a:ln w="19050">
            <a:solidFill>
              <a:srgbClr val="58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E33B5D3-FE83-A242-30E8-1723A3D24993}"/>
              </a:ext>
            </a:extLst>
          </p:cNvPr>
          <p:cNvSpPr/>
          <p:nvPr/>
        </p:nvSpPr>
        <p:spPr>
          <a:xfrm>
            <a:off x="6529324" y="1216152"/>
            <a:ext cx="3200400" cy="292608"/>
          </a:xfrm>
          <a:prstGeom prst="roundRect">
            <a:avLst/>
          </a:prstGeom>
          <a:solidFill>
            <a:srgbClr val="131722"/>
          </a:solidFill>
          <a:ln w="15875">
            <a:solidFill>
              <a:srgbClr val="58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Gameplay GIF: house exploration</a:t>
            </a:r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CD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EEF0F5"/>
                </a:solidFill>
              </a:rPr>
              <a:t>High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411480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2CD99C"/>
                </a:solidFill>
              </a:rPr>
              <a:t>Best recorded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606040"/>
            <a:ext cx="5486400" cy="1645920"/>
          </a:xfrm>
          <a:prstGeom prst="rect">
            <a:avLst/>
          </a:prstGeom>
          <a:solidFill>
            <a:srgbClr val="0A0C12"/>
          </a:solidFill>
          <a:ln w="12700">
            <a:solidFill>
              <a:srgbClr val="ACB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2461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ACB2BE"/>
                </a:solidFill>
              </a:rPr>
              <a:t>High score screenshot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108960"/>
            <a:ext cx="4389120" cy="1645920"/>
          </a:xfrm>
          <a:prstGeom prst="roundRect">
            <a:avLst/>
          </a:prstGeom>
          <a:solidFill>
            <a:srgbClr val="1F232F"/>
          </a:solidFill>
          <a:ln w="12700">
            <a:solidFill>
              <a:srgbClr val="1F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karan KALRA</cp:lastModifiedBy>
  <cp:revision>14</cp:revision>
  <dcterms:created xsi:type="dcterms:W3CDTF">2021-12-17T12:45:32Z</dcterms:created>
  <dcterms:modified xsi:type="dcterms:W3CDTF">2026-06-06T18:17:07Z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